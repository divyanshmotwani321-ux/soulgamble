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Fira Code"/>
      <ns0:bold ns1:id="rIdFont19"/>
      <ns0:regular ns1:id="rIdFont20"/>
    </ns0:embeddedFont>
    <ns0:embeddedFont>
      <ns0:font typeface="Playfair Display"/>
      <ns0:bold ns1:id="rIdFont21"/>
    </ns0:embeddedFont>
    <ns0:embeddedFont>
      <ns0:font typeface="Plus Jakarta Sans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2db0d3e8-b8cb-4d0c-802f-5bed2d4fff37.fntdata" /><ns0:Relationship Id="rIdFont20" Type="http://schemas.openxmlformats.org/officeDocument/2006/relationships/font" Target="fonts/6491fa64-873a-4f9b-944a-9a1ed57e67e6.fntdata" /><ns0:Relationship Id="rIdFont21" Type="http://schemas.openxmlformats.org/officeDocument/2006/relationships/font" Target="fonts/07e08cbf-f08f-4410-904b-b968f2e04478.fntdata" /><ns0:Relationship Id="rIdFont22" Type="http://schemas.openxmlformats.org/officeDocument/2006/relationships/font" Target="fonts/1ca41548-ac8b-4149-91ad-50478deb17bc.fntdata" /><ns0:Relationship Id="rIdFont23" Type="http://schemas.openxmlformats.org/officeDocument/2006/relationships/font" Target="fonts/d0e3aba5-4262-431a-addc-56dbe745ff2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29275"/>
            <a:ext cx="10820400" cy="695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626024"/>
            <a:ext cx="6858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5629275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5500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59E0B"/>
                </a:solidFill>
                <a:latin typeface="Fira Code"/>
              </a:rPr>
              <a:t>SYMBIOSIS INSTITUTE OF TECHNOLOGY, HYDERABAD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34450" y="533400"/>
            <a:ext cx="3214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Fira Code"/>
              </a:rPr>
              <a:t>SUBJECT: DATA STRUCTURES -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89075"/>
            <a:ext cx="11506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87171"/>
                </a:solidFill>
                <a:latin typeface="Fira Code"/>
              </a:rPr>
              <a:t>LAB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31975"/>
            <a:ext cx="9901237" cy="13653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b="1" sz="4800" i="0" u="none">
                <a:solidFill>
                  <a:srgbClr val="F8FAFC"/>
                </a:solidFill>
                <a:latin typeface="Playfair Display"/>
              </a:rPr>
              <a:t>Soul Gamble: The D'Arby Showdown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87824"/>
            <a:ext cx="7905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CBD5E1"/>
                </a:solidFill>
                <a:latin typeface="Plus Jakarta Sans"/>
              </a:rPr>
              <a:t>Data-Structure Driven Psychological Poker &amp; Stand Showdown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872162"/>
            <a:ext cx="2131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SUBMITTED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81712"/>
            <a:ext cx="213121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Divyansh Motwani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4175" y="5867400"/>
            <a:ext cx="2428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BRANCH &amp; PRN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4175" y="6076950"/>
            <a:ext cx="24288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59E0B"/>
                </a:solidFill>
                <a:latin typeface="Fira Code"/>
              </a:rPr>
              <a:t>CSE | 25070721015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675" y="5872162"/>
            <a:ext cx="2512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PROJECT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675" y="6081712"/>
            <a:ext cx="251221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Dr. Rakesh Salakapuri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584" y="1728787"/>
            <a:ext cx="5763815" cy="4381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884" y="1843087"/>
            <a:ext cx="5535215" cy="415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91B1B"/>
                </a:solidFill>
                <a:latin typeface="Fira Code"/>
              </a:rPr>
              <a:t>01 / ABSTRACT &amp;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1437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ayfair Display"/>
              </a:rPr>
              <a:t>Project Overview &amp; Core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581275"/>
            <a:ext cx="4923234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Plus Jakarta Sans"/>
              </a:rPr>
              <a:t>Soul Gamble replaces static randomized card arrays with transparent data structures in a 90s arcade poker showdown.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3462337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486150"/>
            <a:ext cx="4694634" cy="45720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FPV Arcade Table:</a:t>
            </a:r>
            <a:r>
              <a:rPr b="0" sz="1425" i="0" u="none">
                <a:solidFill>
                  <a:srgbClr val="0F172A"/>
                </a:solidFill>
                <a:latin typeface="Plus Jakarta Sans"/>
              </a:rPr>
              <a:t> 3D 5-Card Draw Poker perspective.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4052887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076700"/>
            <a:ext cx="5749230" cy="2286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Deque Card Shoe:</a:t>
            </a:r>
            <a:r>
              <a:rPr b="0" sz="1425" i="0" u="none">
                <a:solidFill>
                  <a:srgbClr val="0F172A"/>
                </a:solidFill>
                <a:latin typeface="Plus Jakarta Sans"/>
              </a:rPr>
              <a:t> Simulates top and bottom dealing.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4414837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438650"/>
            <a:ext cx="5749230" cy="2286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LIFO Soul Pot:</a:t>
            </a:r>
            <a:r>
              <a:rPr b="0" sz="1425" i="0" u="none">
                <a:solidFill>
                  <a:srgbClr val="0F172A"/>
                </a:solidFill>
                <a:latin typeface="Plus Jakarta Sans"/>
              </a:rPr>
              <a:t> Manages bidirectional chip wagers.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4776787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800600"/>
            <a:ext cx="4694634" cy="45720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Cognitive AI Engine:</a:t>
            </a:r>
            <a:r>
              <a:rPr b="0" sz="1425" i="0" u="none">
                <a:solidFill>
                  <a:srgbClr val="0F172A"/>
                </a:solidFill>
                <a:latin typeface="Plus Jakarta Sans"/>
              </a:rPr>
              <a:t> Tracks inverse Composure and Paranoia.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7987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947987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947987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947987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62312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3262312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3262312"/>
            <a:ext cx="2667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775" y="3262312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91B1B"/>
                </a:solidFill>
                <a:latin typeface="Fira Code"/>
              </a:rPr>
              <a:t>02 / 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ayfair Display"/>
              </a:rPr>
              <a:t>Four Core Data Structures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719512"/>
            <a:ext cx="275034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Double-Ended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100512"/>
            <a:ext cx="2190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Constant-time dual-end card extraction.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075" y="3719512"/>
            <a:ext cx="275034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LIFO Soul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075" y="4100512"/>
            <a:ext cx="2190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Last-in first-out pot resolution.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719512"/>
            <a:ext cx="275034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Frequency Hash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4100512"/>
            <a:ext cx="2190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Linear-time five-card hand classification.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719512"/>
            <a:ext cx="275034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Finite State Machine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4100512"/>
            <a:ext cx="2190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Five-node opponent behavior engine.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91B1B"/>
                </a:solidFill>
                <a:latin typeface="Fira Code"/>
              </a:rPr>
              <a:t>03 / DOUBLE-ENDED QUEUE (DEQUE)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1437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ayfair Display"/>
              </a:rPr>
              <a:t>Deque Deck &amp; Sleight-of-Hand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33675"/>
            <a:ext cx="4016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Fira Code"/>
              </a:rPr>
              <a:t>Deque.popFront()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76575"/>
            <a:ext cx="4217128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ayfair Display"/>
              </a:rPr>
              <a:t>Fair Top Deal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400" y="2843212"/>
            <a:ext cx="4016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97706"/>
                </a:solidFill>
                <a:latin typeface="Fira Code"/>
              </a:rPr>
              <a:t>Deque.extractSecond()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9400" y="3186112"/>
            <a:ext cx="4217128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ayfair Display"/>
              </a:rPr>
              <a:t>Second-Deal Cheat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9200" y="2843212"/>
            <a:ext cx="38227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Fira Code"/>
              </a:rPr>
              <a:t>Deque.popBack()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9200" y="3186112"/>
            <a:ext cx="3822799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ayfair Display"/>
              </a:rPr>
              <a:t>Bottom-Deal Cheat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3538537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562350"/>
            <a:ext cx="311780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Target Node: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Extracts index 0 head card.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4090987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114800"/>
            <a:ext cx="311780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Complexity: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Strict O(1) front removal.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4643437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667250"/>
            <a:ext cx="311780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Enforcer: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Permanent Neutral Dealer Boy.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4650" y="364807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9900" y="3671887"/>
            <a:ext cx="311780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Target Node: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Retains index 0 top card.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4650" y="42005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9900" y="4224337"/>
            <a:ext cx="3778187" cy="21907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Advantage: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Deals index 1 to Jotaro.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4650" y="4533900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9900" y="4557712"/>
            <a:ext cx="311780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Detection: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Caught via Star Platinum QTE.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4450" y="364807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9700" y="3671887"/>
            <a:ext cx="311780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Target Node: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Extracts stacked tail card.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4450" y="42005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9700" y="4224337"/>
            <a:ext cx="3632299" cy="21907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Complexity: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Strict O(1) rear removal.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4450" y="4533900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9700" y="4557712"/>
            <a:ext cx="311780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Counterplay: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Swapped via Deck Tamper.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8462"/>
            <a:ext cx="2414587" cy="1924050"/>
          </a:xfrm>
          <a:prstGeom prst="roundRect">
            <a:avLst>
              <a:gd name="adj" fmla="val 594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62337" y="2938462"/>
            <a:ext cx="2414587" cy="1924050"/>
          </a:xfrm>
          <a:prstGeom prst="roundRect">
            <a:avLst>
              <a:gd name="adj" fmla="val 594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15075" y="2938462"/>
            <a:ext cx="2414587" cy="1924050"/>
          </a:xfrm>
          <a:prstGeom prst="roundRect">
            <a:avLst>
              <a:gd name="adj" fmla="val 594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67812" y="2938462"/>
            <a:ext cx="2414587" cy="1924050"/>
          </a:xfrm>
          <a:prstGeom prst="roundRect">
            <a:avLst>
              <a:gd name="adj" fmla="val 594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" y="3214687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62362" y="3214687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5100" y="3214687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67837" y="3214687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587" y="3795712"/>
            <a:ext cx="1333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3795712"/>
            <a:ext cx="1333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062" y="3795712"/>
            <a:ext cx="1333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91B1B"/>
                </a:solidFill>
                <a:latin typeface="Fira Code"/>
              </a:rPr>
              <a:t>04 / CHRONOLOGICAL DEAL &amp; KINETIC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1437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ayfair Display"/>
              </a:rPr>
              <a:t>5-Second Deal &amp; QTE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3214687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Fira Code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786187"/>
            <a:ext cx="264408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Pre-Deal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4148137"/>
            <a:ext cx="21097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Lock blind hand for 1.5x paranoia.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9487" y="3214687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Fira Code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2362" y="3786187"/>
            <a:ext cx="264408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5.0s Deal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2362" y="4148137"/>
            <a:ext cx="21097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Trigger Star Platinum via Spacebar.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2225" y="3214687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Fira Code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3786187"/>
            <a:ext cx="264408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Precision QTE 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100" y="4148137"/>
            <a:ext cx="21097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Stop moving needle inside target zone.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4962" y="3214687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Fira Code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7837" y="3786187"/>
            <a:ext cx="264408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Expose or Pocket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7837" y="4148137"/>
            <a:ext cx="21097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Station Dealer Boy or tamper deck.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28787"/>
            <a:ext cx="6144666" cy="4381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843087"/>
            <a:ext cx="5916066" cy="415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91B1B"/>
                </a:solidFill>
                <a:latin typeface="Fira Code"/>
              </a:rPr>
              <a:t>05 / LIFO STACK &amp; TOKEN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1437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ayfair Display"/>
              </a:rPr>
              <a:t>Bidirectional LIFO Chip Economy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8616" y="2867025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3866" y="2890837"/>
            <a:ext cx="4313783" cy="45720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LIFO Pot Push:</a:t>
            </a:r>
            <a:r>
              <a:rPr b="0" sz="1425" i="0" u="none">
                <a:solidFill>
                  <a:srgbClr val="0F172A"/>
                </a:solidFill>
                <a:latin typeface="Plus Jakarta Sans"/>
              </a:rPr>
              <a:t> Every bet pushes owner-tagged tokens.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8616" y="3476625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3866" y="3500437"/>
            <a:ext cx="4313783" cy="45720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Liberated Vault:</a:t>
            </a:r>
            <a:r>
              <a:rPr b="0" sz="1425" i="0" u="none">
                <a:solidFill>
                  <a:srgbClr val="0F172A"/>
                </a:solidFill>
                <a:latin typeface="Plus Jakarta Sans"/>
              </a:rPr>
              <a:t> Locks won Joseph and Polnareff souls.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8616" y="4086225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3866" y="4110037"/>
            <a:ext cx="4313783" cy="45720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Captured Chips:</a:t>
            </a:r>
            <a:r>
              <a:rPr b="0" sz="1425" i="0" u="none">
                <a:solidFill>
                  <a:srgbClr val="0F172A"/>
                </a:solidFill>
                <a:latin typeface="Plus Jakarta Sans"/>
              </a:rPr>
              <a:t> D'Arby claims lost Crusader chips.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8616" y="4695825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3866" y="4719637"/>
            <a:ext cx="4828133" cy="2286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LIFO Re-Wager:</a:t>
            </a:r>
            <a:r>
              <a:rPr b="0" sz="1425" i="0" u="none">
                <a:solidFill>
                  <a:srgbClr val="0F172A"/>
                </a:solidFill>
                <a:latin typeface="Plus Jakarta Sans"/>
              </a:rPr>
              <a:t> D'Arby bets captured chips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3712"/>
            <a:ext cx="347975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3033712"/>
            <a:ext cx="347975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3143250"/>
            <a:ext cx="3479750" cy="151447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91B1B"/>
                </a:solidFill>
                <a:latin typeface="Fira Code"/>
              </a:rPr>
              <a:t>06 / COLLATERAL ESCALATION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1437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ayfair Display"/>
              </a:rPr>
              <a:t>Tiered Soul Vault Escalation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348037"/>
            <a:ext cx="3659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Fira Code"/>
              </a:rPr>
              <a:t>TIER 01 • 6 CHIPS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614737"/>
            <a:ext cx="3842081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ayfair Display"/>
              </a:rPr>
              <a:t>Muhammad Avdol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014787"/>
            <a:ext cx="30225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+12% Paranoia boost upon bank reload.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275" y="3348037"/>
            <a:ext cx="3659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Fira Code"/>
              </a:rPr>
              <a:t>TIER 02 • 6 CHIPS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275" y="3614737"/>
            <a:ext cx="3842081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ayfair Display"/>
              </a:rPr>
              <a:t>Noriaki Kakyoin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275" y="4014787"/>
            <a:ext cx="30225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+18% Paranoia boost for cold resolve.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8725" y="3457575"/>
            <a:ext cx="3659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C2626"/>
                </a:solidFill>
                <a:latin typeface="Fira Code"/>
              </a:rPr>
              <a:t>TIER 03 • LAST RESORT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8725" y="3724275"/>
            <a:ext cx="3813274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ayfair Display"/>
              </a:rPr>
              <a:t>Holly Kujo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8725" y="4124325"/>
            <a:ext cx="3659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+30% Paranoia final lifeline unlock.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262437"/>
            <a:ext cx="10972800" cy="9144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262437"/>
            <a:ext cx="38100" cy="9144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91B1B"/>
                </a:solidFill>
                <a:latin typeface="Fira Code"/>
              </a:rPr>
              <a:t>07 / ALGORITHMIC SHOWDOWN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1437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ayfair Display"/>
              </a:rPr>
              <a:t>Hash-Map Hand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491037"/>
            <a:ext cx="10420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Fira Code"/>
              </a:rPr>
              <a:t>RankMap[rank]++ &amp; SuitMap[suit]++ → Post-Draw Check or Call flips all 5 D'Arby cards for instant comparison.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678" y="2624137"/>
            <a:ext cx="3274218" cy="866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100" i="0" u="none">
                <a:solidFill>
                  <a:srgbClr val="991B1B"/>
                </a:solidFill>
                <a:latin typeface="Playfair Display"/>
              </a:rPr>
              <a:t>O(N)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678" y="3567112"/>
            <a:ext cx="327421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34155"/>
                </a:solidFill>
                <a:latin typeface="Plus Jakarta Sans"/>
              </a:rPr>
              <a:t>Single-Pass Hand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2721" y="2624137"/>
            <a:ext cx="3107531" cy="866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100" i="0" u="none">
                <a:solidFill>
                  <a:srgbClr val="D97706"/>
                </a:solidFill>
                <a:latin typeface="Playfair Display"/>
              </a:rPr>
              <a:t>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721" y="3567112"/>
            <a:ext cx="31075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34155"/>
                </a:solidFill>
                <a:latin typeface="Plus Jakarta Sans"/>
              </a:rPr>
              <a:t>Indexed Deque Card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7700" y="2624137"/>
            <a:ext cx="3048000" cy="866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100" i="0" u="none">
                <a:solidFill>
                  <a:srgbClr val="0F172A"/>
                </a:solidFill>
                <a:latin typeface="Playfair Display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7700" y="3567112"/>
            <a:ext cx="3048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34155"/>
                </a:solidFill>
                <a:latin typeface="Plus Jakarta Sans"/>
              </a:rPr>
              <a:t>Classified Poker Hand Tiers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584" y="1728787"/>
            <a:ext cx="5763815" cy="4381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884" y="1843087"/>
            <a:ext cx="5535215" cy="415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91B1B"/>
                </a:solidFill>
                <a:latin typeface="Fira Code"/>
              </a:rPr>
              <a:t>08 / IMPERFECT-INFORMATION GAME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1437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ayfair Display"/>
              </a:rPr>
              <a:t>Imperfect-Information Tells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3057525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081337"/>
            <a:ext cx="5749230" cy="2286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0 Cards Drawn:</a:t>
            </a:r>
            <a:r>
              <a:rPr b="0" sz="1425" i="0" u="none">
                <a:solidFill>
                  <a:srgbClr val="0F172A"/>
                </a:solidFill>
                <a:latin typeface="Plus Jakarta Sans"/>
              </a:rPr>
              <a:t> Signals pat hand or bluff.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3419475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443287"/>
            <a:ext cx="5749230" cy="2286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1 Card Drawn:</a:t>
            </a:r>
            <a:r>
              <a:rPr b="0" sz="1425" i="0" u="none">
                <a:solidFill>
                  <a:srgbClr val="0F172A"/>
                </a:solidFill>
                <a:latin typeface="Plus Jakarta Sans"/>
              </a:rPr>
              <a:t> Signals Two Pair or draw.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3781425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805237"/>
            <a:ext cx="5749230" cy="2286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2 Cards Drawn:</a:t>
            </a:r>
            <a:r>
              <a:rPr b="0" sz="1425" i="0" u="none">
                <a:solidFill>
                  <a:srgbClr val="0F172A"/>
                </a:solidFill>
                <a:latin typeface="Plus Jakarta Sans"/>
              </a:rPr>
              <a:t> Signals Three of a Kind.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4143375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167187"/>
            <a:ext cx="5749230" cy="2286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3 Cards Drawn:</a:t>
            </a:r>
            <a:r>
              <a:rPr b="0" sz="1425" i="0" u="none">
                <a:solidFill>
                  <a:srgbClr val="0F172A"/>
                </a:solidFill>
                <a:latin typeface="Plus Jakarta Sans"/>
              </a:rPr>
              <a:t> Signals One Pair holding.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4505325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529137"/>
            <a:ext cx="5749230" cy="2286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Inverse Lock:</a:t>
            </a:r>
            <a:r>
              <a:rPr b="0" sz="1425" i="0" u="none">
                <a:solidFill>
                  <a:srgbClr val="0F172A"/>
                </a:solidFill>
                <a:latin typeface="Plus Jakarta Sans"/>
              </a:rPr>
              <a:t> Composure plus Paranoia equals 100%.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438400"/>
          <a:ext cx="10972797" cy="29622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64233"/>
                <a:gridCol w="3841253"/>
                <a:gridCol w="1569243"/>
                <a:gridCol w="1569243"/>
                <a:gridCol w="2028825"/>
              </a:tblGrid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F8FAFC"/>
                          </a:solidFill>
                          <a:latin typeface="Playfair Display"/>
                        </a:rPr>
                        <a:t>FSM State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F8FAFC"/>
                          </a:solidFill>
                          <a:latin typeface="Playfair Display"/>
                        </a:rPr>
                        <a:t>Inverse Threshold (C + P = 100%)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F8FAFC"/>
                          </a:solidFill>
                          <a:latin typeface="Playfair Display"/>
                        </a:rPr>
                        <a:t>Raise / Bluff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F8FAFC"/>
                          </a:solidFill>
                          <a:latin typeface="Playfair Display"/>
                        </a:rPr>
                        <a:t>Call / Check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F8FAFC"/>
                          </a:solidFill>
                          <a:latin typeface="Playfair Display"/>
                        </a:rPr>
                        <a:t>Fold / Forfeit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991B1B"/>
                          </a:solidFill>
                          <a:latin typeface="Plus Jakarta Sans"/>
                        </a:rPr>
                        <a:t>SMUG (Default)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000000"/>
                          </a:solidFill>
                          <a:latin typeface="Fira Code"/>
                        </a:rPr>
                        <a:t>10% ≤ P &lt; 30% | 70% &lt; C ≤ 90%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0.65 (65%)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0.30 (30%)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0.05 (5%)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CALCULATING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000000"/>
                          </a:solidFill>
                          <a:latin typeface="Fira Code"/>
                        </a:rPr>
                        <a:t>30% ≤ P &lt; 60% | 40% &lt; C ≤ 70%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0.35 (35%)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0.50 (50%)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0.15 (15%)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D97706"/>
                          </a:solidFill>
                          <a:latin typeface="Plus Jakarta Sans"/>
                        </a:rPr>
                        <a:t>PARANOID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000000"/>
                          </a:solidFill>
                          <a:latin typeface="Fira Code"/>
                        </a:rPr>
                        <a:t>60% ≤ P &lt; 100% | 0% &lt; C ≤ 40%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0.15 (15%)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0.45 (45%)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0.40 (40%)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CATATONIC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000000"/>
                          </a:solidFill>
                          <a:latin typeface="Fira Code"/>
                        </a:rPr>
                        <a:t>P = 100% | C = 0% (Breakdown)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0.00 (0%)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0.00 (0%)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1.00 (100% Win)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91B1B"/>
                </a:solidFill>
                <a:latin typeface="Fira Code"/>
              </a:rPr>
              <a:t>09 / FINITE STATE MACHINE (FSM)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1437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ayfair Display"/>
              </a:rPr>
              <a:t>FSM Behavioral Transition Matrix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91B1B"/>
                </a:solidFill>
                <a:latin typeface="Fira Code"/>
              </a:rPr>
              <a:t>10 / BEHAVIORAL TELEMETRY &amp; DIO GAMBIT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1437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ayfair Display"/>
              </a:rPr>
              <a:t>FSM Action Probability Distribution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186237"/>
            <a:ext cx="6096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7921" y="2138362"/>
            <a:ext cx="3536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59E0B"/>
                </a:solidFill>
                <a:latin typeface="Fira Code"/>
              </a:rPr>
              <a:t>APPLICATIONS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5556" y="2481262"/>
            <a:ext cx="7100887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8FAFC"/>
                </a:solidFill>
                <a:latin typeface="Playfair Display"/>
              </a:rPr>
              <a:t>Thank You &amp;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3367087"/>
            <a:ext cx="9048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CBD5E1"/>
                </a:solidFill>
                <a:latin typeface="Plus Jakarta Sans"/>
              </a:rPr>
              <a:t>Future expansions include WebSocket multiplayer showdowns, Monte Carlo Tree Search (MCTS) lookahead, and Binary Search Tree Stand battles.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3390" y="4491037"/>
            <a:ext cx="74652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8FAFC"/>
                </a:solidFill>
                <a:latin typeface="Fira Code"/>
              </a:rPr>
              <a:t>Divyansh Motwani • CSE • PRN: 25070721015 • SIT Hyderabad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